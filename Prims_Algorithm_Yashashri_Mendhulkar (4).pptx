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6400800" cy="3657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C2694D"/>
                </a:solidFill>
                <a:latin typeface="Aptos"/>
              </a:defRPr>
            </a:pPr>
            <a:r>
              <a:t>DESIGN &amp; ANALYSIS OF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583680" cy="182880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235341"/>
                </a:solidFill>
                <a:latin typeface="Aptos Display"/>
              </a:defRPr>
            </a:pPr>
            <a:r>
              <a:t>Prim's</a:t>
            </a:r>
          </a:p>
          <a:p>
            <a:pPr>
              <a:spcAft>
                <a:spcPts val="600"/>
              </a:spcAft>
              <a:defRPr sz="4000" b="1">
                <a:solidFill>
                  <a:srgbClr val="235341"/>
                </a:solidFill>
                <a:latin typeface="Aptos Display"/>
              </a:defRPr>
            </a:pPr>
            <a:r>
              <a:t>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3474720"/>
            <a:ext cx="6217920" cy="6400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6302B"/>
                </a:solidFill>
                <a:latin typeface="Aptos"/>
              </a:defRPr>
            </a:pPr>
            <a:r>
              <a:t>A greedy approach to building a minimum spanning tree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8458200" y="1828800"/>
            <a:ext cx="1691640" cy="91440"/>
          </a:xfrm>
          <a:prstGeom prst="line">
            <a:avLst/>
          </a:prstGeom>
          <a:ln w="17780">
            <a:solidFill>
              <a:srgbClr val="B3C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148572" y="158191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B3C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58200" y="1920240"/>
            <a:ext cx="822960" cy="1097280"/>
          </a:xfrm>
          <a:prstGeom prst="line">
            <a:avLst/>
          </a:prstGeom>
          <a:ln w="17780">
            <a:solidFill>
              <a:srgbClr val="B3C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714232" y="217627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B3C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9281160" y="1828800"/>
            <a:ext cx="868680" cy="1188720"/>
          </a:xfrm>
          <a:prstGeom prst="line">
            <a:avLst/>
          </a:prstGeom>
          <a:ln w="17780">
            <a:solidFill>
              <a:srgbClr val="B3C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560052" y="213055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B3C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149840" y="1828800"/>
            <a:ext cx="365760" cy="2057400"/>
          </a:xfrm>
          <a:prstGeom prst="line">
            <a:avLst/>
          </a:prstGeom>
          <a:ln w="17780">
            <a:solidFill>
              <a:srgbClr val="B3C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177272" y="256489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B3C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81160" y="3017520"/>
            <a:ext cx="1234440" cy="868680"/>
          </a:xfrm>
          <a:prstGeom prst="line">
            <a:avLst/>
          </a:prstGeom>
          <a:ln w="17780">
            <a:solidFill>
              <a:srgbClr val="B3C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742932" y="315925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B3C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8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229600" y="3017520"/>
            <a:ext cx="1051560" cy="1234440"/>
          </a:xfrm>
          <a:prstGeom prst="line">
            <a:avLst/>
          </a:prstGeom>
          <a:ln w="17780">
            <a:solidFill>
              <a:srgbClr val="B3C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599932" y="334213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B3C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10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8229600" y="3886200"/>
            <a:ext cx="2286000" cy="365760"/>
          </a:xfrm>
          <a:prstGeom prst="line">
            <a:avLst/>
          </a:prstGeom>
          <a:ln w="17780">
            <a:solidFill>
              <a:srgbClr val="B3C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217152" y="377647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B3C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8183879" y="1645920"/>
            <a:ext cx="548640" cy="548640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9875519" y="1554480"/>
            <a:ext cx="548640" cy="548640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1" name="Oval 20"/>
          <p:cNvSpPr/>
          <p:nvPr/>
        </p:nvSpPr>
        <p:spPr>
          <a:xfrm>
            <a:off x="9006840" y="2743200"/>
            <a:ext cx="548640" cy="548640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Oval 21"/>
          <p:cNvSpPr/>
          <p:nvPr/>
        </p:nvSpPr>
        <p:spPr>
          <a:xfrm>
            <a:off x="10241280" y="3611880"/>
            <a:ext cx="548640" cy="548640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3" name="Oval 22"/>
          <p:cNvSpPr/>
          <p:nvPr/>
        </p:nvSpPr>
        <p:spPr>
          <a:xfrm>
            <a:off x="7955279" y="3977640"/>
            <a:ext cx="548640" cy="548640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4" name="Oval 23"/>
          <p:cNvSpPr/>
          <p:nvPr/>
        </p:nvSpPr>
        <p:spPr>
          <a:xfrm>
            <a:off x="10241280" y="274320"/>
            <a:ext cx="1097280" cy="1097280"/>
          </a:xfrm>
          <a:prstGeom prst="ellipse">
            <a:avLst/>
          </a:prstGeom>
          <a:solidFill>
            <a:srgbClr val="E8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43800" y="4892040"/>
            <a:ext cx="640080" cy="640080"/>
          </a:xfrm>
          <a:prstGeom prst="ellipse">
            <a:avLst/>
          </a:prstGeom>
          <a:solidFill>
            <a:srgbClr val="DB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892040"/>
            <a:ext cx="5212080" cy="10058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87168"/>
                </a:solidFill>
                <a:latin typeface="Aptos"/>
              </a:defRPr>
            </a:pPr>
            <a:r>
              <a:t>Name: Yashashri Mendhulkar</a:t>
            </a:r>
          </a:p>
          <a:p>
            <a:pPr>
              <a:spcAft>
                <a:spcPts val="600"/>
              </a:spcAft>
              <a:defRPr sz="1400" b="0">
                <a:solidFill>
                  <a:srgbClr val="687168"/>
                </a:solidFill>
                <a:latin typeface="Aptos"/>
              </a:defRPr>
            </a:pPr>
            <a:r>
              <a:t>PRN: 25070521229</a:t>
            </a:r>
          </a:p>
          <a:p>
            <a:pPr>
              <a:spcAft>
                <a:spcPts val="600"/>
              </a:spcAft>
              <a:defRPr sz="1400" b="0">
                <a:solidFill>
                  <a:srgbClr val="687168"/>
                </a:solidFill>
                <a:latin typeface="Aptos"/>
              </a:defRPr>
            </a:pPr>
            <a:r>
              <a:t>Section: 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327648"/>
            <a:ext cx="3108960" cy="22860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687168"/>
                </a:solidFill>
                <a:latin typeface="Aptos"/>
              </a:defRPr>
            </a:pPr>
            <a:r>
              <a:t>Generated using Canva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235341"/>
                </a:solidFill>
                <a:latin typeface="Aptos"/>
              </a:defRPr>
            </a:pPr>
            <a:r>
              <a:t>What is Prim's Algorithm?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777240" cy="64008"/>
          </a:xfrm>
          <a:prstGeom prst="rect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3657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87168"/>
                </a:solidFill>
                <a:latin typeface="Aptos"/>
              </a:defRPr>
            </a:pPr>
            <a:r>
              <a:t>A greedy method for finding a minimum spanning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6473952"/>
            <a:ext cx="2926080" cy="1828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87168"/>
                </a:solidFill>
                <a:latin typeface="Aptos"/>
              </a:defRPr>
            </a:pPr>
            <a:r>
              <a:t>02 • PRIM'S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6400800" cy="15544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26302B"/>
                </a:solidFill>
                <a:latin typeface="Aptos"/>
              </a:defRPr>
            </a:pPr>
            <a:r>
              <a:t>Prim's Algorithm grows a tree one vertex at a time. At each step, it adds the lowest-weight edge that connects the current tree to a vertex outside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86200"/>
            <a:ext cx="137160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C2694D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97680"/>
            <a:ext cx="6217920" cy="7772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35341"/>
                </a:solidFill>
                <a:latin typeface="Aptos"/>
              </a:defRPr>
            </a:pPr>
            <a:r>
              <a:t>Connect every vertex with the minimum possible total edge weight.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8288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947672"/>
            <a:ext cx="310896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GREEDY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331720"/>
            <a:ext cx="3108960" cy="5486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2B"/>
                </a:solidFill>
                <a:latin typeface="Aptos"/>
              </a:defRPr>
            </a:pPr>
            <a:r>
              <a:t>Choose the cheapest valid edge.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938528"/>
            <a:ext cx="64008" cy="923544"/>
          </a:xfrm>
          <a:prstGeom prst="rect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0" y="324612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3364991"/>
            <a:ext cx="310896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CONNECTED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749039"/>
            <a:ext cx="3108960" cy="5486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2B"/>
                </a:solidFill>
                <a:latin typeface="Aptos"/>
              </a:defRPr>
            </a:pPr>
            <a:r>
              <a:t>Each edge adds a new vertex.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3355848"/>
            <a:ext cx="64008" cy="923544"/>
          </a:xfrm>
          <a:prstGeom prst="rect">
            <a:avLst/>
          </a:prstGeom>
          <a:solidFill>
            <a:srgbClr val="DB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0" y="466344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4782312"/>
            <a:ext cx="310896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NO CYCLES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166359"/>
            <a:ext cx="3108960" cy="5486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2B"/>
                </a:solidFill>
                <a:latin typeface="Aptos"/>
              </a:defRPr>
            </a:pPr>
            <a:r>
              <a:t>The growing structure remains a tree.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4773168"/>
            <a:ext cx="64008" cy="923544"/>
          </a:xfrm>
          <a:prstGeom prst="rect">
            <a:avLst/>
          </a:prstGeom>
          <a:solidFill>
            <a:srgbClr val="23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327648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87168"/>
                </a:solidFill>
                <a:latin typeface="Aptos"/>
              </a:defRPr>
            </a:pPr>
            <a:r>
              <a:t>Generated using Canva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235341"/>
                </a:solidFill>
                <a:latin typeface="Aptos"/>
              </a:defRPr>
            </a:pPr>
            <a:r>
              <a:t>Minimum Spanning Tree (MST)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777240" cy="64008"/>
          </a:xfrm>
          <a:prstGeom prst="rect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3657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87168"/>
                </a:solidFill>
                <a:latin typeface="Aptos"/>
              </a:defRPr>
            </a:pPr>
            <a:r>
              <a:t>The target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6473952"/>
            <a:ext cx="2926080" cy="1828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87168"/>
                </a:solidFill>
                <a:latin typeface="Aptos"/>
              </a:defRPr>
            </a:pPr>
            <a:r>
              <a:t>03 • PRIM'S ALGORITHM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993391"/>
            <a:ext cx="109728" cy="109728"/>
          </a:xfrm>
          <a:prstGeom prst="ellipse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5623560" cy="5486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6302B"/>
                </a:solidFill>
                <a:latin typeface="Aptos"/>
              </a:defRPr>
            </a:pPr>
            <a:r>
              <a:t>Spanning: includes every vertex.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43199"/>
            <a:ext cx="109728" cy="109728"/>
          </a:xfrm>
          <a:prstGeom prst="ellipse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24327"/>
            <a:ext cx="5623560" cy="5486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6302B"/>
                </a:solidFill>
                <a:latin typeface="Aptos"/>
              </a:defRPr>
            </a:pPr>
            <a:r>
              <a:t>Connected: a path exists between every pair of vertices.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493007"/>
            <a:ext cx="109728" cy="109728"/>
          </a:xfrm>
          <a:prstGeom prst="ellipse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74135"/>
            <a:ext cx="5623560" cy="5486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6302B"/>
                </a:solidFill>
                <a:latin typeface="Aptos"/>
              </a:defRPr>
            </a:pPr>
            <a:r>
              <a:t>Tree: contains no cycles.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42816"/>
            <a:ext cx="109728" cy="109728"/>
          </a:xfrm>
          <a:prstGeom prst="ellipse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23944"/>
            <a:ext cx="5623560" cy="5486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6302B"/>
                </a:solidFill>
                <a:latin typeface="Aptos"/>
              </a:defRPr>
            </a:pPr>
            <a:r>
              <a:t>Minimum: has the smallest total edge weight.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0" y="2240280"/>
            <a:ext cx="731520" cy="1188720"/>
          </a:xfrm>
          <a:prstGeom prst="line">
            <a:avLst/>
          </a:prstGeom>
          <a:ln w="38100">
            <a:solidFill>
              <a:srgbClr val="235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39912" y="254203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23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961120" y="2103120"/>
            <a:ext cx="822960" cy="1325880"/>
          </a:xfrm>
          <a:prstGeom prst="line">
            <a:avLst/>
          </a:prstGeom>
          <a:ln w="38100">
            <a:solidFill>
              <a:srgbClr val="235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217152" y="247345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23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84080" y="2103120"/>
            <a:ext cx="457200" cy="1828800"/>
          </a:xfrm>
          <a:prstGeom prst="line">
            <a:avLst/>
          </a:prstGeom>
          <a:ln w="38100">
            <a:solidFill>
              <a:srgbClr val="235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857232" y="272491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23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8138160" y="3931920"/>
            <a:ext cx="2103120" cy="777240"/>
          </a:xfrm>
          <a:prstGeom prst="line">
            <a:avLst/>
          </a:prstGeom>
          <a:ln w="38100">
            <a:solidFill>
              <a:srgbClr val="235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034272" y="4027931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23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7946136" y="1956816"/>
            <a:ext cx="566928" cy="566928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3" name="Oval 22"/>
          <p:cNvSpPr/>
          <p:nvPr/>
        </p:nvSpPr>
        <p:spPr>
          <a:xfrm>
            <a:off x="9500615" y="1819655"/>
            <a:ext cx="566928" cy="566928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8677656" y="3145536"/>
            <a:ext cx="566928" cy="566928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5" name="Oval 24"/>
          <p:cNvSpPr/>
          <p:nvPr/>
        </p:nvSpPr>
        <p:spPr>
          <a:xfrm>
            <a:off x="9957815" y="3648456"/>
            <a:ext cx="566928" cy="566928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Oval 25"/>
          <p:cNvSpPr/>
          <p:nvPr/>
        </p:nvSpPr>
        <p:spPr>
          <a:xfrm>
            <a:off x="7854696" y="4425696"/>
            <a:ext cx="566928" cy="566928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486400"/>
            <a:ext cx="4297680" cy="45720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C2694D"/>
                </a:solidFill>
                <a:latin typeface="Aptos"/>
              </a:defRPr>
            </a:pPr>
            <a:r>
              <a:t>With 5 vertices, an MST has exactly 4 edges.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87168"/>
                </a:solidFill>
                <a:latin typeface="Aptos"/>
              </a:defRPr>
            </a:pPr>
            <a:r>
              <a:t>Generated using Canva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235341"/>
                </a:solidFill>
                <a:latin typeface="Aptos"/>
              </a:defRPr>
            </a:pPr>
            <a:r>
              <a:t>How the Algorithm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777240" cy="64008"/>
          </a:xfrm>
          <a:prstGeom prst="rect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3657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87168"/>
                </a:solidFill>
                <a:latin typeface="Aptos"/>
              </a:defRPr>
            </a:pPr>
            <a:r>
              <a:t>Repeat until every vertex belongs to the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6473952"/>
            <a:ext cx="2926080" cy="1828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87168"/>
                </a:solidFill>
                <a:latin typeface="Aptos"/>
              </a:defRPr>
            </a:pPr>
            <a:r>
              <a:t>04 • PRIM'S ALGORITHM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301752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01 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17520" cy="7772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2B"/>
                </a:solidFill>
                <a:latin typeface="Aptos"/>
              </a:defRPr>
            </a:pPr>
            <a:r>
              <a:t>Choose any vertex.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38528"/>
            <a:ext cx="64008" cy="1152144"/>
          </a:xfrm>
          <a:prstGeom prst="rect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47672"/>
            <a:ext cx="301752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02  FIND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3017520" cy="7772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2B"/>
                </a:solidFill>
                <a:latin typeface="Aptos"/>
              </a:defRPr>
            </a:pPr>
            <a:r>
              <a:t>Check edges from the tree to outside vertices.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938528"/>
            <a:ext cx="64008" cy="1152144"/>
          </a:xfrm>
          <a:prstGeom prst="rect">
            <a:avLst/>
          </a:prstGeom>
          <a:solidFill>
            <a:srgbClr val="DB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47672"/>
            <a:ext cx="301752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03 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31720"/>
            <a:ext cx="3017520" cy="7772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2B"/>
                </a:solidFill>
                <a:latin typeface="Aptos"/>
              </a:defRPr>
            </a:pPr>
            <a:r>
              <a:t>Add the lowest-weight eligible edge.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938528"/>
            <a:ext cx="64008" cy="1152144"/>
          </a:xfrm>
          <a:prstGeom prst="rect">
            <a:avLst/>
          </a:prstGeom>
          <a:solidFill>
            <a:srgbClr val="23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60320" y="384048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3959352"/>
            <a:ext cx="301752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04  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343400"/>
            <a:ext cx="3017520" cy="7772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2B"/>
                </a:solidFill>
                <a:latin typeface="Aptos"/>
              </a:defRPr>
            </a:pPr>
            <a:r>
              <a:t>Add the new vertex and continue.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3950208"/>
            <a:ext cx="64008" cy="1152144"/>
          </a:xfrm>
          <a:prstGeom prst="rect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384048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59352"/>
            <a:ext cx="301752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05  STOP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43400"/>
            <a:ext cx="3017520" cy="7772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2B"/>
                </a:solidFill>
                <a:latin typeface="Aptos"/>
              </a:defRPr>
            </a:pPr>
            <a:r>
              <a:t>Finish when all vertices are connected.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950208"/>
            <a:ext cx="64008" cy="1152144"/>
          </a:xfrm>
          <a:prstGeom prst="rect">
            <a:avLst/>
          </a:prstGeom>
          <a:solidFill>
            <a:srgbClr val="DB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10241280" cy="3657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235341"/>
                </a:solidFill>
                <a:latin typeface="Aptos"/>
              </a:defRPr>
            </a:pPr>
            <a:r>
              <a:t>Never choose an edge that leads to a vertex already inside the tree.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27648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87168"/>
                </a:solidFill>
                <a:latin typeface="Aptos"/>
              </a:defRPr>
            </a:pPr>
            <a:r>
              <a:t>Generated using Canva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235341"/>
                </a:solidFill>
                <a:latin typeface="Aptos"/>
              </a:defRPr>
            </a:pPr>
            <a:r>
              <a:t>Worked Example: Weighted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777240" cy="64008"/>
          </a:xfrm>
          <a:prstGeom prst="rect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3657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87168"/>
                </a:solidFill>
                <a:latin typeface="Aptos"/>
              </a:defRPr>
            </a:pPr>
            <a:r>
              <a:t>Start from vertex A; weights are shown beside each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6473952"/>
            <a:ext cx="2926080" cy="1828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87168"/>
                </a:solidFill>
                <a:latin typeface="Aptos"/>
              </a:defRPr>
            </a:pPr>
            <a:r>
              <a:t>05 • PRIM'S ALGORITHM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286000" y="2194560"/>
            <a:ext cx="2468880" cy="548640"/>
          </a:xfrm>
          <a:prstGeom prst="line">
            <a:avLst/>
          </a:prstGeom>
          <a:ln w="21590">
            <a:solidFill>
              <a:srgbClr val="B3C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364992" y="217627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B3C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743200"/>
            <a:ext cx="2286000" cy="1371600"/>
          </a:xfrm>
          <a:prstGeom prst="line">
            <a:avLst/>
          </a:prstGeom>
          <a:ln w="21590">
            <a:solidFill>
              <a:srgbClr val="B3C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273552" y="313639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B3C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4572000" y="2194560"/>
            <a:ext cx="182880" cy="1920240"/>
          </a:xfrm>
          <a:prstGeom prst="line">
            <a:avLst/>
          </a:prstGeom>
          <a:ln w="21590">
            <a:solidFill>
              <a:srgbClr val="B3C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507992" y="286207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B3C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54880" y="2194560"/>
            <a:ext cx="2651760" cy="365760"/>
          </a:xfrm>
          <a:prstGeom prst="line">
            <a:avLst/>
          </a:prstGeom>
          <a:ln w="21590">
            <a:solidFill>
              <a:srgbClr val="B3C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925312" y="2084831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B3C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5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572000" y="2560320"/>
            <a:ext cx="2834640" cy="1554480"/>
          </a:xfrm>
          <a:prstGeom prst="line">
            <a:avLst/>
          </a:prstGeom>
          <a:ln w="21590">
            <a:solidFill>
              <a:srgbClr val="B3C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833872" y="304495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B3C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4114800"/>
            <a:ext cx="3657600" cy="365760"/>
          </a:xfrm>
          <a:prstGeom prst="line">
            <a:avLst/>
          </a:prstGeom>
          <a:ln w="21590">
            <a:solidFill>
              <a:srgbClr val="B3C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45352" y="400507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B3C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10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06640" y="2560320"/>
            <a:ext cx="822960" cy="1920240"/>
          </a:xfrm>
          <a:prstGeom prst="line">
            <a:avLst/>
          </a:prstGeom>
          <a:ln w="21590">
            <a:solidFill>
              <a:srgbClr val="B3C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662672" y="322783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B3C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1947672" y="2404872"/>
            <a:ext cx="676656" cy="676656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1" name="Oval 20"/>
          <p:cNvSpPr/>
          <p:nvPr/>
        </p:nvSpPr>
        <p:spPr>
          <a:xfrm>
            <a:off x="4416552" y="1856231"/>
            <a:ext cx="676656" cy="676656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4233672" y="3776472"/>
            <a:ext cx="676656" cy="676656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7068312" y="2221991"/>
            <a:ext cx="676656" cy="676656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4" name="Oval 23"/>
          <p:cNvSpPr/>
          <p:nvPr/>
        </p:nvSpPr>
        <p:spPr>
          <a:xfrm>
            <a:off x="7891272" y="4142232"/>
            <a:ext cx="676656" cy="676656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1828800"/>
            <a:ext cx="22860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1947672"/>
            <a:ext cx="192024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EDGE 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331720"/>
            <a:ext cx="1920240" cy="24231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6302B"/>
                </a:solidFill>
                <a:latin typeface="Aptos"/>
              </a:defRPr>
            </a:pPr>
            <a:r>
              <a:t>AB = 4</a:t>
            </a:r>
          </a:p>
          <a:p>
            <a:pPr>
              <a:spcAft>
                <a:spcPts val="600"/>
              </a:spcAft>
              <a:defRPr sz="1400" b="0">
                <a:solidFill>
                  <a:srgbClr val="26302B"/>
                </a:solidFill>
                <a:latin typeface="Aptos"/>
              </a:defRPr>
            </a:pPr>
            <a:r>
              <a:t>AC = 2</a:t>
            </a:r>
          </a:p>
          <a:p>
            <a:pPr>
              <a:spcAft>
                <a:spcPts val="600"/>
              </a:spcAft>
              <a:defRPr sz="1400" b="0">
                <a:solidFill>
                  <a:srgbClr val="26302B"/>
                </a:solidFill>
                <a:latin typeface="Aptos"/>
              </a:defRPr>
            </a:pPr>
            <a:r>
              <a:t>BC = 1</a:t>
            </a:r>
          </a:p>
          <a:p>
            <a:pPr>
              <a:spcAft>
                <a:spcPts val="600"/>
              </a:spcAft>
              <a:defRPr sz="1400" b="0">
                <a:solidFill>
                  <a:srgbClr val="26302B"/>
                </a:solidFill>
                <a:latin typeface="Aptos"/>
              </a:defRPr>
            </a:pPr>
            <a:r>
              <a:t>BD = 5</a:t>
            </a:r>
          </a:p>
          <a:p>
            <a:pPr>
              <a:spcAft>
                <a:spcPts val="600"/>
              </a:spcAft>
              <a:defRPr sz="1400" b="0">
                <a:solidFill>
                  <a:srgbClr val="26302B"/>
                </a:solidFill>
                <a:latin typeface="Aptos"/>
              </a:defRPr>
            </a:pPr>
            <a:r>
              <a:t>CD = 8</a:t>
            </a:r>
          </a:p>
          <a:p>
            <a:pPr>
              <a:spcAft>
                <a:spcPts val="600"/>
              </a:spcAft>
              <a:defRPr sz="1400" b="0">
                <a:solidFill>
                  <a:srgbClr val="26302B"/>
                </a:solidFill>
                <a:latin typeface="Aptos"/>
              </a:defRPr>
            </a:pPr>
            <a:r>
              <a:t>CE = 10</a:t>
            </a:r>
          </a:p>
          <a:p>
            <a:pPr>
              <a:spcAft>
                <a:spcPts val="600"/>
              </a:spcAft>
              <a:defRPr sz="1400" b="0">
                <a:solidFill>
                  <a:srgbClr val="26302B"/>
                </a:solidFill>
                <a:latin typeface="Aptos"/>
              </a:defRPr>
            </a:pPr>
            <a:r>
              <a:t>DE =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0" y="1938528"/>
            <a:ext cx="64008" cy="2798063"/>
          </a:xfrm>
          <a:prstGeom prst="rect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715000"/>
            <a:ext cx="8046720" cy="3657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87168"/>
                </a:solidFill>
                <a:latin typeface="Aptos"/>
              </a:defRPr>
            </a:pPr>
            <a:r>
              <a:t>The graph is connected, weighted, and undirected.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327648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87168"/>
                </a:solidFill>
                <a:latin typeface="Aptos"/>
              </a:defRPr>
            </a:pPr>
            <a:r>
              <a:t>Generated using Canva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235341"/>
                </a:solidFill>
                <a:latin typeface="Aptos"/>
              </a:defRPr>
            </a:pPr>
            <a:r>
              <a:t>Prim's Algorithm: Step-by-Step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777240" cy="64008"/>
          </a:xfrm>
          <a:prstGeom prst="rect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3657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87168"/>
                </a:solidFill>
                <a:latin typeface="Aptos"/>
              </a:defRPr>
            </a:pPr>
            <a:r>
              <a:t>At each step, choose the cheapest edge crossing the tree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6473952"/>
            <a:ext cx="2926080" cy="1828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87168"/>
                </a:solidFill>
                <a:latin typeface="Aptos"/>
              </a:defRPr>
            </a:pPr>
            <a:r>
              <a:t>06 • PRIM'S ALGORITHM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9377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457200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572000" cy="4114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2B"/>
                </a:solidFill>
                <a:latin typeface="Aptos"/>
              </a:defRPr>
            </a:pPr>
            <a:r>
              <a:t>Start at A. AC = 2 is cheaper than AB = 4.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938528"/>
            <a:ext cx="64008" cy="786384"/>
          </a:xfrm>
          <a:prstGeom prst="rect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3063240"/>
            <a:ext cx="49377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182112"/>
            <a:ext cx="457200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66160"/>
            <a:ext cx="4572000" cy="4114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2B"/>
                </a:solidFill>
                <a:latin typeface="Aptos"/>
              </a:defRPr>
            </a:pPr>
            <a:r>
              <a:t>Tree {A, C}. Choose BC = 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172968"/>
            <a:ext cx="64008" cy="786384"/>
          </a:xfrm>
          <a:prstGeom prst="rect">
            <a:avLst/>
          </a:prstGeom>
          <a:solidFill>
            <a:srgbClr val="DB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4297680"/>
            <a:ext cx="49377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16552"/>
            <a:ext cx="457200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00600"/>
            <a:ext cx="4572000" cy="4114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2B"/>
                </a:solidFill>
                <a:latin typeface="Aptos"/>
              </a:defRPr>
            </a:pPr>
            <a:r>
              <a:t>Tree {A, B, C}. Choose BD = 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407408"/>
            <a:ext cx="64008" cy="786384"/>
          </a:xfrm>
          <a:prstGeom prst="rect">
            <a:avLst/>
          </a:prstGeom>
          <a:solidFill>
            <a:srgbClr val="23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80760" y="1828800"/>
            <a:ext cx="49377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947672"/>
            <a:ext cx="457200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331720"/>
            <a:ext cx="4572000" cy="4114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2B"/>
                </a:solidFill>
                <a:latin typeface="Aptos"/>
              </a:defRPr>
            </a:pPr>
            <a:r>
              <a:t>Tree {A, B, C, D}. Choose DE = 2.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938528"/>
            <a:ext cx="64008" cy="786384"/>
          </a:xfrm>
          <a:prstGeom prst="rect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80760" y="3063240"/>
            <a:ext cx="49377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182112"/>
            <a:ext cx="457200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FINAL TREE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566160"/>
            <a:ext cx="4572000" cy="4114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2B"/>
                </a:solidFill>
                <a:latin typeface="Aptos"/>
              </a:defRPr>
            </a:pPr>
            <a:r>
              <a:t>Selected edges: AC, BC, BD, 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172968"/>
            <a:ext cx="64008" cy="786384"/>
          </a:xfrm>
          <a:prstGeom prst="rect">
            <a:avLst/>
          </a:prstGeom>
          <a:solidFill>
            <a:srgbClr val="DB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80760" y="4297680"/>
            <a:ext cx="49377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416552"/>
            <a:ext cx="457200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TOTAL WEIGHT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800600"/>
            <a:ext cx="4572000" cy="4114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6302B"/>
                </a:solidFill>
                <a:latin typeface="Aptos"/>
              </a:defRPr>
            </a:pPr>
            <a:r>
              <a:t>2 + 1 + 5 + 2 = 10.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4407408"/>
            <a:ext cx="64008" cy="786384"/>
          </a:xfrm>
          <a:prstGeom prst="rect">
            <a:avLst/>
          </a:prstGeom>
          <a:solidFill>
            <a:srgbClr val="23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235341"/>
                </a:solidFill>
                <a:latin typeface="Aptos"/>
              </a:defRPr>
            </a:pPr>
            <a:r>
              <a:t>Every selected edge adds exactly one new vertex.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327648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87168"/>
                </a:solidFill>
                <a:latin typeface="Aptos"/>
              </a:defRPr>
            </a:pPr>
            <a:r>
              <a:t>Generated using Canva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235341"/>
                </a:solidFill>
                <a:latin typeface="Aptos"/>
              </a:defRPr>
            </a:pPr>
            <a:r>
              <a:t>Pseudocode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777240" cy="64008"/>
          </a:xfrm>
          <a:prstGeom prst="rect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3657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87168"/>
                </a:solidFill>
                <a:latin typeface="Aptos"/>
              </a:defRPr>
            </a:pPr>
            <a:r>
              <a:t>A simple outline of the greedy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6473952"/>
            <a:ext cx="2926080" cy="1828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87168"/>
                </a:solidFill>
                <a:latin typeface="Aptos"/>
              </a:defRPr>
            </a:pPr>
            <a:r>
              <a:t>07 • PRIM'S ALGORITHM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6583680" cy="4114800"/>
          </a:xfrm>
          <a:prstGeom prst="roundRect">
            <a:avLst/>
          </a:prstGeom>
          <a:solidFill>
            <a:srgbClr val="F1EFE5"/>
          </a:solidFill>
          <a:ln>
            <a:solidFill>
              <a:srgbClr val="DC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56032"/>
          <a:lstStyle/>
          <a:p>
            <a:pPr algn="ctr">
              <a:spcAft>
                <a:spcPts val="600"/>
              </a:spcAft>
              <a:defRPr sz="1600">
                <a:solidFill>
                  <a:srgbClr val="235341"/>
                </a:solidFill>
                <a:latin typeface="Menlo"/>
              </a:defRPr>
            </a:pPr>
            <a:r>
              <a:t>Choose any starting vertex</a:t>
            </a:r>
          </a:p>
          <a:p>
            <a:pPr>
              <a:spcAft>
                <a:spcPts val="600"/>
              </a:spcAft>
              <a:defRPr sz="1600">
                <a:solidFill>
                  <a:srgbClr val="235341"/>
                </a:solidFill>
                <a:latin typeface="Menlo"/>
              </a:defRPr>
            </a:pPr>
            <a:r>
              <a:t>Mark it as part of the tree</a:t>
            </a:r>
          </a:p>
          <a:p>
            <a:pPr>
              <a:spcAft>
                <a:spcPts val="600"/>
              </a:spcAft>
              <a:defRPr sz="1600">
                <a:solidFill>
                  <a:srgbClr val="235341"/>
                </a:solidFill>
                <a:latin typeface="Menlo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35341"/>
                </a:solidFill>
                <a:latin typeface="Menlo"/>
              </a:defRPr>
            </a:pPr>
            <a:r>
              <a:t>while some vertices remain outside:</a:t>
            </a:r>
          </a:p>
          <a:p>
            <a:pPr>
              <a:spcAft>
                <a:spcPts val="600"/>
              </a:spcAft>
              <a:defRPr sz="1600">
                <a:solidFill>
                  <a:srgbClr val="26302B"/>
                </a:solidFill>
                <a:latin typeface="Menlo"/>
              </a:defRPr>
            </a:pPr>
            <a:r>
              <a:t>    find the minimum-weight edge</a:t>
            </a:r>
          </a:p>
          <a:p>
            <a:pPr>
              <a:spcAft>
                <a:spcPts val="600"/>
              </a:spcAft>
              <a:defRPr sz="1600">
                <a:solidFill>
                  <a:srgbClr val="26302B"/>
                </a:solidFill>
                <a:latin typeface="Menlo"/>
              </a:defRPr>
            </a:pPr>
            <a:r>
              <a:t>    with one endpoint inside the tree</a:t>
            </a:r>
          </a:p>
          <a:p>
            <a:pPr>
              <a:spcAft>
                <a:spcPts val="600"/>
              </a:spcAft>
              <a:defRPr sz="1600">
                <a:solidFill>
                  <a:srgbClr val="26302B"/>
                </a:solidFill>
                <a:latin typeface="Menlo"/>
              </a:defRPr>
            </a:pPr>
            <a:r>
              <a:t>    and the other endpoint outside</a:t>
            </a:r>
          </a:p>
          <a:p>
            <a:pPr>
              <a:spcAft>
                <a:spcPts val="600"/>
              </a:spcAft>
              <a:defRPr sz="1600">
                <a:solidFill>
                  <a:srgbClr val="26302B"/>
                </a:solidFill>
                <a:latin typeface="Menlo"/>
              </a:defRPr>
            </a:pPr>
            <a:r>
              <a:t>    add that edge and new vertex</a:t>
            </a:r>
          </a:p>
          <a:p>
            <a:pPr>
              <a:spcAft>
                <a:spcPts val="600"/>
              </a:spcAft>
              <a:defRPr sz="1600">
                <a:solidFill>
                  <a:srgbClr val="235341"/>
                </a:solidFill>
                <a:latin typeface="Menlo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35341"/>
                </a:solidFill>
                <a:latin typeface="Menlo"/>
              </a:defRPr>
            </a:pPr>
            <a:r>
              <a:t>return the selected edges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011680"/>
            <a:ext cx="2926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130552"/>
            <a:ext cx="256032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514600"/>
            <a:ext cx="2560320" cy="7772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6302B"/>
                </a:solidFill>
                <a:latin typeface="Aptos"/>
              </a:defRPr>
            </a:pPr>
            <a:r>
              <a:t>Connected weighted undirected graph.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2121408"/>
            <a:ext cx="64008" cy="1152144"/>
          </a:xfrm>
          <a:prstGeom prst="rect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3749039"/>
            <a:ext cx="2926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3867911"/>
            <a:ext cx="256032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251959"/>
            <a:ext cx="2560320" cy="7772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6302B"/>
                </a:solidFill>
                <a:latin typeface="Aptos"/>
              </a:defRPr>
            </a:pPr>
            <a:r>
              <a:t>Edges of a minimum spanning tree.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858768"/>
            <a:ext cx="64008" cy="1152144"/>
          </a:xfrm>
          <a:prstGeom prst="rect">
            <a:avLst/>
          </a:prstGeom>
          <a:solidFill>
            <a:srgbClr val="DB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327648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87168"/>
                </a:solidFill>
                <a:latin typeface="Aptos"/>
              </a:defRPr>
            </a:pPr>
            <a:r>
              <a:t>Generated using Canva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235341"/>
                </a:solidFill>
                <a:latin typeface="Aptos"/>
              </a:defRPr>
            </a:pPr>
            <a:r>
              <a:t>Complexity and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777240" cy="64008"/>
          </a:xfrm>
          <a:prstGeom prst="rect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3657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87168"/>
                </a:solidFill>
                <a:latin typeface="Aptos"/>
              </a:defRPr>
            </a:pPr>
            <a:r>
              <a:t>Where Prim's Algorithm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6473952"/>
            <a:ext cx="2926080" cy="1828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87168"/>
                </a:solidFill>
                <a:latin typeface="Aptos"/>
              </a:defRPr>
            </a:pPr>
            <a:r>
              <a:t>08 • PRIM'S ALGORITHM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918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47672"/>
            <a:ext cx="292608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TIME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926080" cy="960119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6302B"/>
                </a:solidFill>
                <a:latin typeface="Aptos"/>
              </a:defRPr>
            </a:pPr>
            <a:r>
              <a:t>O(V²) with adjacency matrix.</a:t>
            </a:r>
          </a:p>
          <a:p>
            <a:pPr>
              <a:spcAft>
                <a:spcPts val="600"/>
              </a:spcAft>
              <a:defRPr sz="1400" b="0">
                <a:solidFill>
                  <a:srgbClr val="26302B"/>
                </a:solidFill>
                <a:latin typeface="Aptos"/>
              </a:defRPr>
            </a:pPr>
            <a:r>
              <a:t>O(E log V) with a min-priority queue.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938528"/>
            <a:ext cx="64008" cy="1335024"/>
          </a:xfrm>
          <a:prstGeom prst="rect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2918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47672"/>
            <a:ext cx="292608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SPACE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2926080" cy="960119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2B"/>
                </a:solidFill>
                <a:latin typeface="Aptos"/>
              </a:defRPr>
            </a:pPr>
            <a:r>
              <a:t>Typically O(V + E) with adjacency lists.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938528"/>
            <a:ext cx="64008" cy="1335024"/>
          </a:xfrm>
          <a:prstGeom prst="rect">
            <a:avLst/>
          </a:prstGeom>
          <a:solidFill>
            <a:srgbClr val="DB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2918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47672"/>
            <a:ext cx="2926080" cy="3200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341"/>
                </a:solidFill>
                <a:latin typeface="Aptos"/>
              </a:defRPr>
            </a:pPr>
            <a:r>
              <a:t>KEY PROPERTY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31720"/>
            <a:ext cx="2926080" cy="960119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2B"/>
                </a:solidFill>
                <a:latin typeface="Aptos"/>
              </a:defRPr>
            </a:pPr>
            <a:r>
              <a:t>Greedy expansion of one connected tree.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938528"/>
            <a:ext cx="64008" cy="1335024"/>
          </a:xfrm>
          <a:prstGeom prst="rect">
            <a:avLst/>
          </a:prstGeom>
          <a:solidFill>
            <a:srgbClr val="23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" y="3913632"/>
            <a:ext cx="109728" cy="109728"/>
          </a:xfrm>
          <a:prstGeom prst="ellipse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3794760"/>
            <a:ext cx="9372600" cy="5486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6302B"/>
                </a:solidFill>
                <a:latin typeface="Aptos"/>
              </a:defRPr>
            </a:pPr>
            <a:r>
              <a:t>Designing low-cost electrical wiring networks.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4398264"/>
            <a:ext cx="109728" cy="109728"/>
          </a:xfrm>
          <a:prstGeom prst="ellipse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279392"/>
            <a:ext cx="9372600" cy="5486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6302B"/>
                </a:solidFill>
                <a:latin typeface="Aptos"/>
              </a:defRPr>
            </a:pPr>
            <a:r>
              <a:t>Connecting computers with minimal cable cost.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4882896"/>
            <a:ext cx="109728" cy="109728"/>
          </a:xfrm>
          <a:prstGeom prst="ellipse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764024"/>
            <a:ext cx="9372600" cy="5486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6302B"/>
                </a:solidFill>
                <a:latin typeface="Aptos"/>
              </a:defRPr>
            </a:pPr>
            <a:r>
              <a:t>Planning road or pipeline connections.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" y="5367528"/>
            <a:ext cx="109728" cy="109728"/>
          </a:xfrm>
          <a:prstGeom prst="ellipse">
            <a:avLst/>
          </a:prstGeom>
          <a:solidFill>
            <a:srgbClr val="C26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5248656"/>
            <a:ext cx="9372600" cy="5486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6302B"/>
                </a:solidFill>
                <a:latin typeface="Aptos"/>
              </a:defRPr>
            </a:pPr>
            <a:r>
              <a:t>Building communication infrastructure.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327648"/>
            <a:ext cx="3017520" cy="22860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687168"/>
                </a:solidFill>
                <a:latin typeface="Aptos"/>
              </a:defRPr>
            </a:pPr>
            <a:r>
              <a:t>Generated using Canva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6217920" cy="41148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C2694D"/>
                </a:solidFill>
                <a:latin typeface="Aptos"/>
              </a:defRPr>
            </a:pPr>
            <a:r>
              <a:t>PRIM'S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6492240" cy="237744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235341"/>
                </a:solidFill>
                <a:latin typeface="Aptos Display"/>
              </a:defRPr>
            </a:pPr>
            <a:r>
              <a:t>Grow the tree.</a:t>
            </a:r>
          </a:p>
          <a:p>
            <a:pPr>
              <a:spcAft>
                <a:spcPts val="600"/>
              </a:spcAft>
              <a:defRPr sz="3200" b="1">
                <a:solidFill>
                  <a:srgbClr val="235341"/>
                </a:solidFill>
                <a:latin typeface="Aptos Display"/>
              </a:defRPr>
            </a:pPr>
            <a:r>
              <a:t>Choose the cheapest</a:t>
            </a:r>
          </a:p>
          <a:p>
            <a:pPr>
              <a:spcAft>
                <a:spcPts val="600"/>
              </a:spcAft>
              <a:defRPr sz="3200" b="1">
                <a:solidFill>
                  <a:srgbClr val="235341"/>
                </a:solidFill>
                <a:latin typeface="Aptos Display"/>
              </a:defRPr>
            </a:pPr>
            <a:r>
              <a:t>valid connection.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6400800" cy="105156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6302B"/>
                </a:solidFill>
                <a:latin typeface="Aptos"/>
              </a:defRPr>
            </a:pPr>
            <a:r>
              <a:t>Start with one vertex, repeatedly add the minimum-weight edge that connects the current tree to a new vertex, and stop when every vertex is included.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0" y="1828800"/>
            <a:ext cx="1005840" cy="1051560"/>
          </a:xfrm>
          <a:prstGeom prst="line">
            <a:avLst/>
          </a:prstGeom>
          <a:ln w="38100">
            <a:solidFill>
              <a:srgbClr val="235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577072" y="206197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23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2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235440" y="1965960"/>
            <a:ext cx="1280160" cy="914400"/>
          </a:xfrm>
          <a:prstGeom prst="line">
            <a:avLst/>
          </a:prstGeom>
          <a:ln w="38100">
            <a:solidFill>
              <a:srgbClr val="235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720072" y="213055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23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515600" y="1965960"/>
            <a:ext cx="274320" cy="1691640"/>
          </a:xfrm>
          <a:prstGeom prst="line">
            <a:avLst/>
          </a:prstGeom>
          <a:ln w="38100">
            <a:solidFill>
              <a:srgbClr val="235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497312" y="2519172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23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5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8869680" y="3657600"/>
            <a:ext cx="1920240" cy="685800"/>
          </a:xfrm>
          <a:prstGeom prst="line">
            <a:avLst/>
          </a:prstGeom>
          <a:ln w="38100">
            <a:solidFill>
              <a:srgbClr val="235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674352" y="3707891"/>
            <a:ext cx="310896" cy="310896"/>
          </a:xfrm>
          <a:prstGeom prst="ellipse">
            <a:avLst/>
          </a:prstGeom>
          <a:solidFill>
            <a:srgbClr val="F9F6EE"/>
          </a:solidFill>
          <a:ln>
            <a:solidFill>
              <a:srgbClr val="23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302B"/>
                </a:solidFill>
              </a:defRPr>
            </a:pPr>
            <a: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7946136" y="1545336"/>
            <a:ext cx="566928" cy="566928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8951976" y="2596896"/>
            <a:ext cx="566928" cy="566928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5" name="Oval 14"/>
          <p:cNvSpPr/>
          <p:nvPr/>
        </p:nvSpPr>
        <p:spPr>
          <a:xfrm>
            <a:off x="10232136" y="1682495"/>
            <a:ext cx="566928" cy="566928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10506456" y="3374136"/>
            <a:ext cx="566928" cy="566928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8586215" y="4059936"/>
            <a:ext cx="566928" cy="566928"/>
          </a:xfrm>
          <a:prstGeom prst="ellipse">
            <a:avLst/>
          </a:prstGeom>
          <a:solidFill>
            <a:srgbClr val="235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074920"/>
            <a:ext cx="3200400" cy="45720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C2694D"/>
                </a:solidFill>
                <a:latin typeface="Aptos"/>
              </a:defRPr>
            </a:pPr>
            <a:r>
              <a:t>MST total =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27648"/>
            <a:ext cx="3017520" cy="228600"/>
          </a:xfrm>
          <a:prstGeom prst="rect">
            <a:avLst/>
          </a:prstGeom>
          <a:noFill/>
        </p:spPr>
        <p:txBody>
          <a:bodyPr wrap="none" lIns="45720" rIns="45720" tIns="27432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687168"/>
                </a:solidFill>
                <a:latin typeface="Aptos"/>
              </a:defRPr>
            </a:pPr>
            <a:r>
              <a:t>Generated using Canva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